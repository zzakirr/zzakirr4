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F06435-B423-45AF-BC34-CAA9639C305D}" v="900" dt="2022-03-10T04:51:57.529"/>
    <p1510:client id="{E5A25160-C0BC-4BA0-AFDE-6A2A7138EAE9}" v="1318" dt="2022-03-09T21:47:50.9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err="1">
                <a:cs typeface="Calibri Light"/>
              </a:rPr>
              <a:t>Searching</a:t>
            </a:r>
            <a:r>
              <a:rPr lang="ru-RU" b="1" dirty="0">
                <a:cs typeface="Calibri Light"/>
              </a:rPr>
              <a:t> </a:t>
            </a:r>
            <a:r>
              <a:rPr lang="ru-RU" b="1" dirty="0" err="1">
                <a:cs typeface="Calibri Light"/>
              </a:rPr>
              <a:t>Alqoritmler</a:t>
            </a:r>
            <a:endParaRPr lang="ru-RU" b="1" dirty="0">
              <a:cs typeface="Calibri Light"/>
            </a:endParaRPr>
          </a:p>
        </p:txBody>
      </p:sp>
      <p:pic>
        <p:nvPicPr>
          <p:cNvPr id="4" name="Рисунок 4" descr="Изображение выглядит как текст, коллекция картинок, векторная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738B2B88-451D-4A53-9941-06D66BC12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950" y="3864768"/>
            <a:ext cx="308610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61170E-DC73-43C4-85DB-C49892BC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>
                <a:cs typeface="Calibri Light"/>
              </a:rPr>
              <a:t>Linear</a:t>
            </a:r>
            <a:r>
              <a:rPr lang="ru-RU" b="1" dirty="0">
                <a:cs typeface="Calibri Light"/>
              </a:rPr>
              <a:t> Search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A3C571-EA46-4F96-910E-C07260319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 </a:t>
            </a:r>
            <a:r>
              <a:rPr lang="ru-RU" dirty="0" err="1">
                <a:ea typeface="+mn-lt"/>
                <a:cs typeface="+mn-lt"/>
              </a:rPr>
              <a:t>Bu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alqoritm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sadə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bir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axtarış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alqoritmidir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və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məsələn</a:t>
            </a:r>
            <a:r>
              <a:rPr lang="ru-RU" dirty="0">
                <a:ea typeface="+mn-lt"/>
                <a:cs typeface="+mn-lt"/>
              </a:rPr>
              <a:t>, </a:t>
            </a:r>
            <a:r>
              <a:rPr lang="ru-RU" dirty="0" err="1">
                <a:ea typeface="+mn-lt"/>
                <a:cs typeface="+mn-lt"/>
              </a:rPr>
              <a:t>Binary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axtarışdan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fərqli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olaraq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funksiyaya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heç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bir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məhdudiyyət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qoymur</a:t>
            </a:r>
            <a:r>
              <a:rPr lang="ru-RU" dirty="0">
                <a:ea typeface="+mn-lt"/>
                <a:cs typeface="+mn-lt"/>
              </a:rPr>
              <a:t>. </a:t>
            </a:r>
            <a:r>
              <a:rPr lang="ru-RU" dirty="0" err="1">
                <a:ea typeface="+mn-lt"/>
                <a:cs typeface="+mn-lt"/>
              </a:rPr>
              <a:t>Funksiya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dəyərinin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axtarışı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nəzərdən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keçirilən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növbəti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dəyərin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sadə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müqayisəsi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ilə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həyata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keçirilir</a:t>
            </a:r>
            <a:r>
              <a:rPr lang="ru-RU" dirty="0">
                <a:ea typeface="+mn-lt"/>
                <a:cs typeface="+mn-lt"/>
              </a:rPr>
              <a:t> (</a:t>
            </a:r>
            <a:r>
              <a:rPr lang="ru-RU" dirty="0" err="1">
                <a:ea typeface="+mn-lt"/>
                <a:cs typeface="+mn-lt"/>
              </a:rPr>
              <a:t>bir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qayda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olaraq</a:t>
            </a:r>
            <a:r>
              <a:rPr lang="ru-RU" dirty="0">
                <a:ea typeface="+mn-lt"/>
                <a:cs typeface="+mn-lt"/>
              </a:rPr>
              <a:t>, </a:t>
            </a:r>
            <a:r>
              <a:rPr lang="ru-RU" dirty="0" err="1">
                <a:ea typeface="+mn-lt"/>
                <a:cs typeface="+mn-lt"/>
              </a:rPr>
              <a:t>axtarış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soldan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sağa</a:t>
            </a:r>
            <a:r>
              <a:rPr lang="ru-RU" dirty="0">
                <a:ea typeface="+mn-lt"/>
                <a:cs typeface="+mn-lt"/>
              </a:rPr>
              <a:t>, </a:t>
            </a:r>
            <a:r>
              <a:rPr lang="ru-RU" dirty="0" err="1">
                <a:ea typeface="+mn-lt"/>
                <a:cs typeface="+mn-lt"/>
              </a:rPr>
              <a:t>yəni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arqumentin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kiçik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dəyərlərindən</a:t>
            </a:r>
            <a:r>
              <a:rPr lang="ru-RU" dirty="0">
                <a:ea typeface="+mn-lt"/>
                <a:cs typeface="+mn-lt"/>
              </a:rPr>
              <a:t> </a:t>
            </a:r>
            <a:r>
              <a:rPr lang="ru-RU" dirty="0" err="1">
                <a:ea typeface="+mn-lt"/>
                <a:cs typeface="+mn-lt"/>
              </a:rPr>
              <a:t>böyükə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qədər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baş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verir</a:t>
            </a:r>
            <a:r>
              <a:rPr lang="ru-RU" dirty="0">
                <a:ea typeface="+mn-lt"/>
                <a:cs typeface="+mn-lt"/>
              </a:rPr>
              <a:t>) </a:t>
            </a:r>
            <a:r>
              <a:rPr lang="ru-RU" dirty="0" err="1">
                <a:ea typeface="+mn-lt"/>
                <a:cs typeface="+mn-lt"/>
              </a:rPr>
              <a:t>və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əgər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dəyərlər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üst-üstə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düşürsə</a:t>
            </a:r>
            <a:r>
              <a:rPr lang="ru-RU" dirty="0">
                <a:ea typeface="+mn-lt"/>
                <a:cs typeface="+mn-lt"/>
              </a:rPr>
              <a:t>, </a:t>
            </a:r>
            <a:r>
              <a:rPr lang="ru-RU" dirty="0" err="1">
                <a:ea typeface="+mn-lt"/>
                <a:cs typeface="+mn-lt"/>
              </a:rPr>
              <a:t>axtarış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tamamlanmış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hesab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olunur</a:t>
            </a:r>
            <a:r>
              <a:rPr lang="ru-RU" dirty="0">
                <a:ea typeface="+mn-lt"/>
                <a:cs typeface="+mn-lt"/>
              </a:rPr>
              <a:t>.</a:t>
            </a:r>
          </a:p>
          <a:p>
            <a:r>
              <a:rPr lang="ru-RU" dirty="0" err="1">
                <a:cs typeface="Calibri"/>
              </a:rPr>
              <a:t>Diger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alqoritmlerle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müqayisede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daha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az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effektiv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olduğuna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göre</a:t>
            </a:r>
            <a:r>
              <a:rPr lang="ru-RU" dirty="0">
                <a:cs typeface="Calibri"/>
              </a:rPr>
              <a:t>, </a:t>
            </a:r>
            <a:r>
              <a:rPr lang="ru-RU" dirty="0" err="1">
                <a:cs typeface="Calibri"/>
              </a:rPr>
              <a:t>nisbeten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balaca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array'lerde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istifade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olunur</a:t>
            </a:r>
            <a:r>
              <a:rPr lang="ru-RU" dirty="0">
                <a:cs typeface="Calibri"/>
              </a:rPr>
              <a:t>, </a:t>
            </a:r>
            <a:r>
              <a:rPr lang="ru-RU" dirty="0" err="1">
                <a:cs typeface="Calibri"/>
              </a:rPr>
              <a:t>hemçinin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əlavə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yaddaş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ve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analiz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teleb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elemir</a:t>
            </a:r>
            <a:r>
              <a:rPr lang="ru-RU" dirty="0">
                <a:cs typeface="Calibri"/>
              </a:rPr>
              <a:t>.</a:t>
            </a:r>
          </a:p>
          <a:p>
            <a:r>
              <a:rPr lang="ru-RU" b="1" dirty="0" err="1">
                <a:cs typeface="Calibri"/>
              </a:rPr>
              <a:t>Example</a:t>
            </a:r>
            <a:endParaRPr lang="ru-RU" b="1">
              <a:cs typeface="Calibri"/>
            </a:endParaRPr>
          </a:p>
          <a:p>
            <a:endParaRPr lang="ru-RU" dirty="0">
              <a:cs typeface="Calibri"/>
            </a:endParaRPr>
          </a:p>
          <a:p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2666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09BE1160-0B69-4817-87F4-E96BB31E9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977" y="46303"/>
            <a:ext cx="9332117" cy="6474618"/>
          </a:xfrm>
        </p:spPr>
      </p:pic>
    </p:spTree>
    <p:extLst>
      <p:ext uri="{BB962C8B-B14F-4D97-AF65-F5344CB8AC3E}">
        <p14:creationId xmlns:p14="http://schemas.microsoft.com/office/powerpoint/2010/main" val="1675720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A3B4D8E-E187-42C8-9EDA-55D0CE724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8313"/>
            <a:ext cx="10515600" cy="57086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>
                <a:cs typeface="Calibri"/>
              </a:rPr>
              <a:t>Best </a:t>
            </a:r>
            <a:r>
              <a:rPr lang="ru-RU" b="1" dirty="0" err="1">
                <a:cs typeface="Calibri"/>
              </a:rPr>
              <a:t>case</a:t>
            </a:r>
            <a:r>
              <a:rPr lang="ru-RU" dirty="0">
                <a:cs typeface="Calibri"/>
              </a:rPr>
              <a:t> - O(1) </a:t>
            </a:r>
            <a:r>
              <a:rPr lang="ru-RU" dirty="0" err="1">
                <a:cs typeface="Calibri"/>
              </a:rPr>
              <a:t>elementi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birinci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axtarışda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tapır</a:t>
            </a:r>
          </a:p>
          <a:p>
            <a:r>
              <a:rPr lang="ru-RU" b="1" dirty="0" err="1">
                <a:cs typeface="Calibri"/>
              </a:rPr>
              <a:t>Worst</a:t>
            </a:r>
            <a:r>
              <a:rPr lang="ru-RU" b="1" dirty="0">
                <a:cs typeface="Calibri"/>
              </a:rPr>
              <a:t> </a:t>
            </a:r>
            <a:r>
              <a:rPr lang="ru-RU" b="1" dirty="0" err="1">
                <a:cs typeface="Calibri"/>
              </a:rPr>
              <a:t>case</a:t>
            </a:r>
            <a:r>
              <a:rPr lang="ru-RU" dirty="0">
                <a:cs typeface="Calibri"/>
              </a:rPr>
              <a:t> - O(n) </a:t>
            </a:r>
            <a:r>
              <a:rPr lang="ru-RU" dirty="0" err="1">
                <a:cs typeface="Calibri"/>
              </a:rPr>
              <a:t>bütün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elementləri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yoxlayır</a:t>
            </a:r>
          </a:p>
          <a:p>
            <a:r>
              <a:rPr lang="ru-RU" dirty="0" err="1">
                <a:cs typeface="Calibri"/>
              </a:rPr>
              <a:t>Eğer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axtarılan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element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arrayde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bir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defe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rastlanırsa</a:t>
            </a:r>
            <a:r>
              <a:rPr lang="ru-RU" dirty="0">
                <a:cs typeface="Calibri"/>
              </a:rPr>
              <a:t> , </a:t>
            </a:r>
            <a:r>
              <a:rPr lang="ru-RU" dirty="0" err="1">
                <a:cs typeface="Calibri"/>
              </a:rPr>
              <a:t>ortalama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axtarış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sayı</a:t>
            </a:r>
            <a:r>
              <a:rPr lang="ru-RU" dirty="0">
                <a:cs typeface="Calibri"/>
              </a:rPr>
              <a:t> (n+1)/2 </a:t>
            </a:r>
            <a:r>
              <a:rPr lang="ru-RU" dirty="0" err="1">
                <a:cs typeface="Calibri"/>
              </a:rPr>
              <a:t>beraberdi</a:t>
            </a:r>
            <a:r>
              <a:rPr lang="ru-RU" dirty="0"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3990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38021-92BD-41D6-9592-23552F429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>
                <a:ea typeface="+mj-lt"/>
                <a:cs typeface="+mj-lt"/>
              </a:rPr>
              <a:t>Binary</a:t>
            </a:r>
            <a:r>
              <a:rPr lang="ru-RU" b="1" dirty="0">
                <a:ea typeface="+mj-lt"/>
                <a:cs typeface="+mj-lt"/>
              </a:rPr>
              <a:t> Search</a:t>
            </a:r>
            <a:endParaRPr lang="ru-RU">
              <a:cs typeface="Calibri Light" panose="020F03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9AEC73-FA63-456D-85A6-E7BDA12E0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 err="1">
                <a:cs typeface="Calibri"/>
              </a:rPr>
              <a:t>Bu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alqoritm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sort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olunmuş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arrayde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istifade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olunur</a:t>
            </a:r>
            <a:endParaRPr lang="ru-RU" dirty="0">
              <a:cs typeface="Calibri"/>
            </a:endParaRPr>
          </a:p>
          <a:p>
            <a:r>
              <a:rPr lang="ru-RU" dirty="0" err="1">
                <a:cs typeface="Calibri"/>
              </a:rPr>
              <a:t>Ideası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ise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beledir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arrayin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ortasın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bir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element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götürüb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axtardığımız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elementin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ondan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böyük</a:t>
            </a:r>
            <a:r>
              <a:rPr lang="ru-RU" dirty="0">
                <a:cs typeface="Calibri"/>
              </a:rPr>
              <a:t>, </a:t>
            </a:r>
            <a:r>
              <a:rPr lang="ru-RU" dirty="0" err="1">
                <a:cs typeface="Calibri"/>
              </a:rPr>
              <a:t>kiçik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ve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ya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beraber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olub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olmadığını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yoxlayırıq</a:t>
            </a:r>
            <a:endParaRPr lang="ru-RU" dirty="0">
              <a:cs typeface="Calibri"/>
            </a:endParaRPr>
          </a:p>
          <a:p>
            <a:r>
              <a:rPr lang="ru-RU" dirty="0" err="1">
                <a:cs typeface="Calibri"/>
              </a:rPr>
              <a:t>Böyük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olduğu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teqdirde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arrayin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sol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terefini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atırıq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ve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aldığımız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yeni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arrayle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eyni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prosesi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tetbiq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edirik</a:t>
            </a:r>
            <a:r>
              <a:rPr lang="ru-RU" dirty="0">
                <a:cs typeface="Calibri"/>
              </a:rPr>
              <a:t>, </a:t>
            </a:r>
            <a:r>
              <a:rPr lang="ru-RU" dirty="0" err="1">
                <a:cs typeface="Calibri"/>
              </a:rPr>
              <a:t>ta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ki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axtardığımız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elemente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çatana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qeder</a:t>
            </a:r>
          </a:p>
          <a:p>
            <a:r>
              <a:rPr lang="ru-RU" dirty="0" err="1">
                <a:cs typeface="Calibri"/>
              </a:rPr>
              <a:t>Balaca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olduğu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teqdirde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ise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sağ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terefi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atırıq</a:t>
            </a:r>
            <a:r>
              <a:rPr lang="ru-RU" dirty="0">
                <a:cs typeface="Calibri"/>
              </a:rPr>
              <a:t> , </a:t>
            </a:r>
            <a:r>
              <a:rPr lang="ru-RU" dirty="0" err="1">
                <a:cs typeface="Calibri"/>
              </a:rPr>
              <a:t>eyni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olduğu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halda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zaten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element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tapılmış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olur</a:t>
            </a:r>
          </a:p>
          <a:p>
            <a:r>
              <a:rPr lang="ru-RU" b="1" dirty="0" err="1">
                <a:cs typeface="Calibri"/>
              </a:rPr>
              <a:t>Example</a:t>
            </a:r>
            <a:endParaRPr lang="ru-RU" b="1">
              <a:cs typeface="Calibri"/>
            </a:endParaRPr>
          </a:p>
          <a:p>
            <a:endParaRPr lang="ru-RU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5178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10">
            <a:extLst>
              <a:ext uri="{FF2B5EF4-FFF2-40B4-BE49-F238E27FC236}">
                <a16:creationId xmlns:a16="http://schemas.microsoft.com/office/drawing/2014/main" id="{E57A574F-C597-4E5E-8529-B6860CDA8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3992" y="289720"/>
            <a:ext cx="10020609" cy="6280149"/>
          </a:xfrm>
        </p:spPr>
      </p:pic>
    </p:spTree>
    <p:extLst>
      <p:ext uri="{BB962C8B-B14F-4D97-AF65-F5344CB8AC3E}">
        <p14:creationId xmlns:p14="http://schemas.microsoft.com/office/powerpoint/2010/main" val="123680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04BF596-75DA-433B-BA3D-C0BC418A5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>
                <a:cs typeface="Calibri"/>
              </a:rPr>
              <a:t>Best </a:t>
            </a:r>
            <a:r>
              <a:rPr lang="ru-RU" b="1" dirty="0" err="1">
                <a:cs typeface="Calibri"/>
              </a:rPr>
              <a:t>case</a:t>
            </a:r>
            <a:r>
              <a:rPr lang="ru-RU" dirty="0">
                <a:cs typeface="Calibri"/>
              </a:rPr>
              <a:t> – O(1) </a:t>
            </a:r>
            <a:r>
              <a:rPr lang="ru-RU" dirty="0" err="1">
                <a:cs typeface="Calibri"/>
              </a:rPr>
              <a:t>axtarılan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ele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arrayin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ortasında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biler</a:t>
            </a:r>
            <a:endParaRPr lang="ru-RU">
              <a:cs typeface="Calibri"/>
            </a:endParaRPr>
          </a:p>
          <a:p>
            <a:r>
              <a:rPr lang="ru-RU" b="1" dirty="0" err="1">
                <a:cs typeface="Calibri"/>
              </a:rPr>
              <a:t>Worst</a:t>
            </a:r>
            <a:r>
              <a:rPr lang="ru-RU" b="1" dirty="0">
                <a:cs typeface="Calibri"/>
              </a:rPr>
              <a:t> </a:t>
            </a:r>
            <a:r>
              <a:rPr lang="ru-RU" b="1" dirty="0" err="1">
                <a:cs typeface="Calibri"/>
              </a:rPr>
              <a:t>case</a:t>
            </a:r>
            <a:r>
              <a:rPr lang="ru-RU" dirty="0">
                <a:cs typeface="Calibri"/>
              </a:rPr>
              <a:t> – </a:t>
            </a:r>
            <a:r>
              <a:rPr lang="ru-RU" dirty="0" err="1">
                <a:cs typeface="Calibri"/>
              </a:rPr>
              <a:t>arrayi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nece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defe</a:t>
            </a:r>
            <a:r>
              <a:rPr lang="ru-RU" dirty="0">
                <a:cs typeface="Calibri"/>
              </a:rPr>
              <a:t> 2 </a:t>
            </a:r>
            <a:r>
              <a:rPr lang="ru-RU" dirty="0" err="1">
                <a:cs typeface="Calibri"/>
              </a:rPr>
              <a:t>ye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bölmey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lazımdı</a:t>
            </a:r>
            <a:r>
              <a:rPr lang="ru-RU" dirty="0">
                <a:cs typeface="Calibri"/>
              </a:rPr>
              <a:t>? 2^k </a:t>
            </a:r>
            <a:r>
              <a:rPr lang="ru-RU" dirty="0" err="1">
                <a:cs typeface="Calibri"/>
              </a:rPr>
              <a:t>defe</a:t>
            </a:r>
            <a:r>
              <a:rPr lang="ru-RU" dirty="0">
                <a:cs typeface="Calibri"/>
              </a:rPr>
              <a:t> </a:t>
            </a:r>
            <a:r>
              <a:rPr lang="ru-RU" b="1" dirty="0">
                <a:cs typeface="Calibri"/>
              </a:rPr>
              <a:t>(</a:t>
            </a:r>
            <a:r>
              <a:rPr lang="ru-RU" b="1" dirty="0" err="1">
                <a:cs typeface="Calibri"/>
              </a:rPr>
              <a:t>log</a:t>
            </a:r>
            <a:r>
              <a:rPr lang="ru-RU" b="1" dirty="0">
                <a:cs typeface="Calibri"/>
              </a:rPr>
              <a:t>(n)) </a:t>
            </a:r>
          </a:p>
        </p:txBody>
      </p:sp>
    </p:spTree>
    <p:extLst>
      <p:ext uri="{BB962C8B-B14F-4D97-AF65-F5344CB8AC3E}">
        <p14:creationId xmlns:p14="http://schemas.microsoft.com/office/powerpoint/2010/main" val="1673771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9AA779-DFD1-46F8-B44F-3DDE89A4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>
                <a:cs typeface="Calibri Light"/>
              </a:rPr>
              <a:t>Jump</a:t>
            </a:r>
            <a:r>
              <a:rPr lang="ru-RU" b="1" dirty="0">
                <a:cs typeface="Calibri Light"/>
              </a:rPr>
              <a:t> Search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0F08E5-B233-46ED-B233-4833A5D8A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 err="1">
                <a:cs typeface="Calibri"/>
              </a:rPr>
              <a:t>Bu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alqoritmde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sort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olunmuş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arraylerde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istifade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olunur</a:t>
            </a:r>
          </a:p>
          <a:p>
            <a:r>
              <a:rPr lang="ru-RU" dirty="0" err="1">
                <a:cs typeface="Calibri"/>
              </a:rPr>
              <a:t>Ideyası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beledirki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verilen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intervala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esasen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bezi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elementleri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yoxlamadan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üzerinden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keçir</a:t>
            </a:r>
            <a:r>
              <a:rPr lang="ru-RU" dirty="0">
                <a:cs typeface="Calibri"/>
              </a:rPr>
              <a:t>, </a:t>
            </a:r>
            <a:r>
              <a:rPr lang="ru-RU" dirty="0" err="1">
                <a:cs typeface="Calibri"/>
              </a:rPr>
              <a:t>intervala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esasen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yoxladığı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element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axtarışda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olan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elementden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böyükdürse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sonuncu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intervala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qayıdır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ve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onun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üzerinde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axtarış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aparır</a:t>
            </a:r>
            <a:r>
              <a:rPr lang="ru-RU" dirty="0">
                <a:cs typeface="Calibri"/>
              </a:rPr>
              <a:t>.</a:t>
            </a:r>
          </a:p>
          <a:p>
            <a:r>
              <a:rPr lang="ru-RU" dirty="0" err="1">
                <a:cs typeface="Calibri"/>
              </a:rPr>
              <a:t>İntervalı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sqrt</a:t>
            </a:r>
            <a:r>
              <a:rPr lang="ru-RU" dirty="0">
                <a:cs typeface="Calibri"/>
              </a:rPr>
              <a:t>(</a:t>
            </a:r>
            <a:r>
              <a:rPr lang="ru-RU" dirty="0" err="1">
                <a:cs typeface="Calibri"/>
              </a:rPr>
              <a:t>arr.length</a:t>
            </a:r>
            <a:r>
              <a:rPr lang="ru-RU" dirty="0">
                <a:cs typeface="Calibri"/>
              </a:rPr>
              <a:t>) </a:t>
            </a:r>
            <a:r>
              <a:rPr lang="ru-RU" dirty="0" err="1">
                <a:cs typeface="Calibri"/>
              </a:rPr>
              <a:t>götürsey</a:t>
            </a:r>
            <a:r>
              <a:rPr lang="ru-RU" dirty="0">
                <a:cs typeface="Calibri"/>
              </a:rPr>
              <a:t> Time </a:t>
            </a:r>
            <a:r>
              <a:rPr lang="ru-RU" dirty="0" err="1">
                <a:cs typeface="Calibri"/>
              </a:rPr>
              <a:t>Complexty'si</a:t>
            </a:r>
            <a:r>
              <a:rPr lang="ru-RU" dirty="0">
                <a:cs typeface="Calibri"/>
              </a:rPr>
              <a:t> O(</a:t>
            </a:r>
            <a:r>
              <a:rPr lang="ru-RU" dirty="0" err="1">
                <a:cs typeface="Calibri"/>
              </a:rPr>
              <a:t>sqrt</a:t>
            </a:r>
            <a:r>
              <a:rPr lang="ru-RU" dirty="0">
                <a:cs typeface="Calibri"/>
              </a:rPr>
              <a:t>(n)) </a:t>
            </a:r>
            <a:r>
              <a:rPr lang="ru-RU" dirty="0" err="1">
                <a:cs typeface="Calibri"/>
              </a:rPr>
              <a:t>kimi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ifade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olunacaq</a:t>
            </a:r>
            <a:endParaRPr lang="ru-RU" dirty="0">
              <a:cs typeface="Calibri"/>
            </a:endParaRPr>
          </a:p>
          <a:p>
            <a:r>
              <a:rPr lang="ru-RU" dirty="0">
                <a:cs typeface="Calibri"/>
              </a:rPr>
              <a:t>Space </a:t>
            </a:r>
            <a:r>
              <a:rPr lang="ru-RU" dirty="0" err="1">
                <a:cs typeface="Calibri"/>
              </a:rPr>
              <a:t>Complexty'si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ise</a:t>
            </a:r>
            <a:r>
              <a:rPr lang="ru-RU" dirty="0">
                <a:cs typeface="Calibri"/>
              </a:rPr>
              <a:t> O(1) </a:t>
            </a:r>
            <a:r>
              <a:rPr lang="ru-RU" dirty="0" err="1">
                <a:cs typeface="Calibri"/>
              </a:rPr>
              <a:t>kimi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ifade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olunur</a:t>
            </a:r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8053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0C85B-7486-409A-AB99-A70E6C490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>
                <a:ea typeface="+mj-lt"/>
                <a:cs typeface="+mj-lt"/>
              </a:rPr>
              <a:t>Interpolation</a:t>
            </a:r>
            <a:r>
              <a:rPr lang="ru-RU" b="1" dirty="0">
                <a:ea typeface="+mj-lt"/>
                <a:cs typeface="+mj-lt"/>
              </a:rPr>
              <a:t> Search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9AFA79-1CFD-4781-86CC-C6CF7A098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 err="1">
                <a:cs typeface="Calibri"/>
              </a:rPr>
              <a:t>Sort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olunmuş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arrayde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istifade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olunur</a:t>
            </a:r>
            <a:r>
              <a:rPr lang="ru-RU" dirty="0">
                <a:cs typeface="Calibri"/>
              </a:rPr>
              <a:t>, </a:t>
            </a:r>
            <a:r>
              <a:rPr lang="ru-RU" dirty="0" err="1">
                <a:cs typeface="Calibri"/>
              </a:rPr>
              <a:t>beleki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arrayda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axtardığımız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elemente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esasen</a:t>
            </a:r>
            <a:r>
              <a:rPr lang="ru-RU" dirty="0">
                <a:cs typeface="Calibri"/>
              </a:rPr>
              <a:t>  </a:t>
            </a:r>
            <a:r>
              <a:rPr lang="ru-RU" dirty="0" err="1">
                <a:cs typeface="Calibri"/>
              </a:rPr>
              <a:t>bir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interval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götürüb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yoxlayır</a:t>
            </a:r>
            <a:r>
              <a:rPr lang="ru-RU" dirty="0">
                <a:cs typeface="Calibri"/>
              </a:rPr>
              <a:t> , </a:t>
            </a:r>
            <a:r>
              <a:rPr lang="ru-RU" dirty="0" err="1">
                <a:cs typeface="Calibri"/>
              </a:rPr>
              <a:t>binary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searchle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oxşarlığı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var</a:t>
            </a:r>
            <a:r>
              <a:rPr lang="ru-RU" dirty="0">
                <a:cs typeface="Calibri"/>
              </a:rPr>
              <a:t>  </a:t>
            </a:r>
            <a:r>
              <a:rPr lang="ru-RU" dirty="0" err="1">
                <a:cs typeface="Calibri"/>
              </a:rPr>
              <a:t>lakin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binaryde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hemse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ten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ortadan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element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götürürdü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ama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key'e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esasen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götürülür</a:t>
            </a:r>
          </a:p>
          <a:p>
            <a:r>
              <a:rPr lang="ru-RU" dirty="0" err="1">
                <a:cs typeface="Calibri"/>
              </a:rPr>
              <a:t>Meselen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key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sonuncu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elemente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yaxındırsa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sonlarda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bir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interval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yoxlanılır</a:t>
            </a:r>
            <a:endParaRPr lang="ru-RU" dirty="0">
              <a:cs typeface="Calibri"/>
            </a:endParaRPr>
          </a:p>
          <a:p>
            <a:r>
              <a:rPr lang="ru-RU" dirty="0" err="1">
                <a:cs typeface="Calibri"/>
              </a:rPr>
              <a:t>İntersearch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orta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elementi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tapmaq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üçün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işletdiyi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formula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bele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ifade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olunur</a:t>
            </a:r>
            <a:r>
              <a:rPr lang="ru-RU" dirty="0">
                <a:cs typeface="Calibri"/>
              </a:rPr>
              <a:t>: </a:t>
            </a:r>
          </a:p>
          <a:p>
            <a:r>
              <a:rPr lang="ru-RU" dirty="0" err="1">
                <a:solidFill>
                  <a:srgbClr val="FF0000"/>
                </a:solidFill>
                <a:cs typeface="Calibri"/>
              </a:rPr>
              <a:t>midd</a:t>
            </a:r>
            <a:r>
              <a:rPr lang="ru-RU" dirty="0">
                <a:solidFill>
                  <a:srgbClr val="FF0000"/>
                </a:solidFill>
                <a:ea typeface="+mn-lt"/>
                <a:cs typeface="+mn-lt"/>
              </a:rPr>
              <a:t> = </a:t>
            </a:r>
            <a:r>
              <a:rPr lang="ru-RU" dirty="0" err="1">
                <a:solidFill>
                  <a:srgbClr val="FF0000"/>
                </a:solidFill>
                <a:ea typeface="+mn-lt"/>
                <a:cs typeface="+mn-lt"/>
              </a:rPr>
              <a:t>left</a:t>
            </a:r>
            <a:r>
              <a:rPr lang="ru-RU" dirty="0">
                <a:solidFill>
                  <a:srgbClr val="FF0000"/>
                </a:solidFill>
                <a:ea typeface="+mn-lt"/>
                <a:cs typeface="+mn-lt"/>
              </a:rPr>
              <a:t> + ((</a:t>
            </a:r>
            <a:r>
              <a:rPr lang="ru-RU" dirty="0" err="1">
                <a:solidFill>
                  <a:srgbClr val="FF0000"/>
                </a:solidFill>
                <a:ea typeface="+mn-lt"/>
                <a:cs typeface="+mn-lt"/>
              </a:rPr>
              <a:t>key</a:t>
            </a:r>
            <a:r>
              <a:rPr lang="ru-RU" dirty="0">
                <a:solidFill>
                  <a:srgbClr val="FF0000"/>
                </a:solidFill>
                <a:ea typeface="+mn-lt"/>
                <a:cs typeface="+mn-lt"/>
              </a:rPr>
              <a:t> – A[</a:t>
            </a:r>
            <a:r>
              <a:rPr lang="ru-RU" dirty="0" err="1">
                <a:solidFill>
                  <a:srgbClr val="FF0000"/>
                </a:solidFill>
                <a:ea typeface="+mn-lt"/>
                <a:cs typeface="+mn-lt"/>
              </a:rPr>
              <a:t>left</a:t>
            </a:r>
            <a:r>
              <a:rPr lang="ru-RU" dirty="0">
                <a:solidFill>
                  <a:srgbClr val="FF0000"/>
                </a:solidFill>
                <a:ea typeface="+mn-lt"/>
                <a:cs typeface="+mn-lt"/>
              </a:rPr>
              <a:t>]) * (</a:t>
            </a:r>
            <a:r>
              <a:rPr lang="ru-RU" dirty="0" err="1">
                <a:solidFill>
                  <a:srgbClr val="FF0000"/>
                </a:solidFill>
                <a:ea typeface="+mn-lt"/>
                <a:cs typeface="+mn-lt"/>
              </a:rPr>
              <a:t>right</a:t>
            </a:r>
            <a:r>
              <a:rPr lang="ru-RU" dirty="0">
                <a:solidFill>
                  <a:srgbClr val="FF0000"/>
                </a:solidFill>
                <a:ea typeface="+mn-lt"/>
                <a:cs typeface="+mn-lt"/>
              </a:rPr>
              <a:t> – </a:t>
            </a:r>
            <a:r>
              <a:rPr lang="ru-RU" dirty="0" err="1">
                <a:solidFill>
                  <a:srgbClr val="FF0000"/>
                </a:solidFill>
                <a:ea typeface="+mn-lt"/>
                <a:cs typeface="+mn-lt"/>
              </a:rPr>
              <a:t>left</a:t>
            </a:r>
            <a:r>
              <a:rPr lang="ru-RU" dirty="0">
                <a:solidFill>
                  <a:srgbClr val="FF0000"/>
                </a:solidFill>
                <a:ea typeface="+mn-lt"/>
                <a:cs typeface="+mn-lt"/>
              </a:rPr>
              <a:t>) / (A[</a:t>
            </a:r>
            <a:r>
              <a:rPr lang="ru-RU" dirty="0" err="1">
                <a:solidFill>
                  <a:srgbClr val="FF0000"/>
                </a:solidFill>
                <a:ea typeface="+mn-lt"/>
                <a:cs typeface="+mn-lt"/>
              </a:rPr>
              <a:t>right</a:t>
            </a:r>
            <a:r>
              <a:rPr lang="ru-RU" dirty="0">
                <a:solidFill>
                  <a:srgbClr val="FF0000"/>
                </a:solidFill>
                <a:ea typeface="+mn-lt"/>
                <a:cs typeface="+mn-lt"/>
              </a:rPr>
              <a:t>] – A[</a:t>
            </a:r>
            <a:r>
              <a:rPr lang="ru-RU" dirty="0" err="1">
                <a:solidFill>
                  <a:srgbClr val="FF0000"/>
                </a:solidFill>
                <a:ea typeface="+mn-lt"/>
                <a:cs typeface="+mn-lt"/>
              </a:rPr>
              <a:t>left</a:t>
            </a:r>
            <a:r>
              <a:rPr lang="ru-RU" dirty="0">
                <a:solidFill>
                  <a:srgbClr val="FF0000"/>
                </a:solidFill>
                <a:ea typeface="+mn-lt"/>
                <a:cs typeface="+mn-lt"/>
              </a:rPr>
              <a:t>]));</a:t>
            </a:r>
            <a:endParaRPr lang="ru-RU" dirty="0">
              <a:solidFill>
                <a:srgbClr val="FF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9069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3685B744-009C-41D4-85E6-FE7D6E833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829" y="254001"/>
            <a:ext cx="11018124" cy="5922962"/>
          </a:xfrm>
        </p:spPr>
      </p:pic>
    </p:spTree>
    <p:extLst>
      <p:ext uri="{BB962C8B-B14F-4D97-AF65-F5344CB8AC3E}">
        <p14:creationId xmlns:p14="http://schemas.microsoft.com/office/powerpoint/2010/main" val="2686575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ater droplet on a petal">
            <a:extLst>
              <a:ext uri="{FF2B5EF4-FFF2-40B4-BE49-F238E27FC236}">
                <a16:creationId xmlns:a16="http://schemas.microsoft.com/office/drawing/2014/main" id="{E77CF305-6ADF-4C2B-A51F-9C260B5022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r="-2" b="-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CA90F3-9E86-4CEA-8560-7B53E38B8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  <a:ea typeface="+mj-lt"/>
                <a:cs typeface="+mj-lt"/>
              </a:rPr>
              <a:t>Exponential Search</a:t>
            </a:r>
            <a:endParaRPr lang="ru-RU" sz="4000" b="1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182200-4859-4C8D-BCBB-55B245C28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372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6688D4-44F4-4EA7-B520-DB924C0F2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379" y="1065862"/>
            <a:ext cx="5744685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dirty="0" err="1">
                <a:solidFill>
                  <a:srgbClr val="FFFFFF"/>
                </a:solidFill>
                <a:cs typeface="Calibri"/>
              </a:rPr>
              <a:t>Sort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olunmuş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ve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sonsuz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arraylerde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istifade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olunur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,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ideyası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beledir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ki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 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bir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interval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götürüb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 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orda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binary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search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aparır</a:t>
            </a:r>
          </a:p>
          <a:p>
            <a:r>
              <a:rPr lang="ru-RU" sz="2000" dirty="0" err="1">
                <a:solidFill>
                  <a:srgbClr val="FFFFFF"/>
                </a:solidFill>
                <a:cs typeface="Calibri"/>
              </a:rPr>
              <a:t>Intervalı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nece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tapır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? </a:t>
            </a:r>
          </a:p>
          <a:p>
            <a:r>
              <a:rPr lang="ru-RU" sz="2000" dirty="0">
                <a:solidFill>
                  <a:srgbClr val="FFFFFF"/>
                </a:solidFill>
                <a:cs typeface="Calibri"/>
              </a:rPr>
              <a:t>I =1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götürür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,  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arr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[i]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bunu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yoxluyur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 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bu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Key'den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böyükdürmü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, 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deyilse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i=2^i 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artırır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,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bele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devam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edir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ve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eğer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arr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[i]&gt;Key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olarsa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,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interval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 i=2^(i-1)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ve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i=2^i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kimi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teyin</a:t>
            </a:r>
            <a:r>
              <a:rPr lang="ru-RU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ru-RU" sz="2000" dirty="0" err="1">
                <a:solidFill>
                  <a:srgbClr val="FFFFFF"/>
                </a:solidFill>
                <a:cs typeface="Calibri"/>
              </a:rPr>
              <a:t>olunur</a:t>
            </a:r>
          </a:p>
          <a:p>
            <a:endParaRPr lang="ru-RU" sz="2000" dirty="0">
              <a:solidFill>
                <a:srgbClr val="FFFFFF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81693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807D2-383F-4593-866B-F4A2A5436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>
                <a:cs typeface="Calibri Light"/>
              </a:rPr>
              <a:t>Fibonachi</a:t>
            </a:r>
            <a:r>
              <a:rPr lang="ru-RU" b="1" dirty="0">
                <a:cs typeface="Calibri Light"/>
              </a:rPr>
              <a:t> Search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3511E-338E-430F-A037-63F261ABF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 err="1">
                <a:cs typeface="Calibri"/>
              </a:rPr>
              <a:t>Bele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ki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Fibonachi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ededleri</a:t>
            </a:r>
            <a:r>
              <a:rPr lang="ru-RU" b="1" dirty="0">
                <a:cs typeface="Calibri"/>
              </a:rPr>
              <a:t> f(i)=f(i-1)+f(i+1)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formulası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esasında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teyin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olunur</a:t>
            </a:r>
            <a:r>
              <a:rPr lang="ru-RU" dirty="0">
                <a:cs typeface="Calibri"/>
              </a:rPr>
              <a:t> </a:t>
            </a:r>
            <a:r>
              <a:rPr lang="ru-RU" b="1" dirty="0">
                <a:cs typeface="Calibri"/>
              </a:rPr>
              <a:t>(f(0)=0, f(1)=1)</a:t>
            </a:r>
          </a:p>
          <a:p>
            <a:r>
              <a:rPr lang="ru-RU" dirty="0" err="1">
                <a:cs typeface="Calibri"/>
              </a:rPr>
              <a:t>Indi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ise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arrayde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Fibonachi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ededleri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index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kimi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götürülür</a:t>
            </a:r>
            <a:r>
              <a:rPr lang="ru-RU" dirty="0">
                <a:cs typeface="Calibri"/>
              </a:rPr>
              <a:t> </a:t>
            </a:r>
          </a:p>
          <a:p>
            <a:r>
              <a:rPr lang="ru-RU" b="1" dirty="0" err="1">
                <a:cs typeface="Calibri"/>
              </a:rPr>
              <a:t>Arr</a:t>
            </a:r>
            <a:r>
              <a:rPr lang="ru-RU" b="1" dirty="0">
                <a:cs typeface="Calibri"/>
              </a:rPr>
              <a:t>[f(i)]&gt;</a:t>
            </a:r>
            <a:r>
              <a:rPr lang="ru-RU" b="1" dirty="0" err="1">
                <a:cs typeface="Calibri"/>
              </a:rPr>
              <a:t>key</a:t>
            </a:r>
            <a:r>
              <a:rPr lang="ru-RU" b="1" dirty="0">
                <a:cs typeface="Calibri"/>
              </a:rPr>
              <a:t> f(i-1) -- f(i)</a:t>
            </a:r>
            <a:endParaRPr lang="ru-RU" dirty="0">
              <a:cs typeface="Calibri"/>
            </a:endParaRPr>
          </a:p>
          <a:p>
            <a:r>
              <a:rPr lang="ru-RU" b="1" dirty="0" err="1">
                <a:cs typeface="Calibri"/>
              </a:rPr>
              <a:t>Arr</a:t>
            </a:r>
            <a:r>
              <a:rPr lang="ru-RU" b="1" dirty="0">
                <a:cs typeface="Calibri"/>
              </a:rPr>
              <a:t> [f(i)]&lt;</a:t>
            </a:r>
            <a:r>
              <a:rPr lang="ru-RU" b="1" dirty="0" err="1">
                <a:cs typeface="Calibri"/>
              </a:rPr>
              <a:t>key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yoxlamaq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üçün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növbeti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Fibonachi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ededine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keçirik</a:t>
            </a:r>
            <a:endParaRPr lang="ru-RU" dirty="0">
              <a:cs typeface="Calibri"/>
            </a:endParaRPr>
          </a:p>
          <a:p>
            <a:r>
              <a:rPr lang="ru-RU" dirty="0" err="1">
                <a:cs typeface="Calibri"/>
              </a:rPr>
              <a:t>Beraberdirse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elementi</a:t>
            </a:r>
            <a:r>
              <a:rPr lang="ru-RU" dirty="0">
                <a:cs typeface="Calibri"/>
              </a:rPr>
              <a:t> </a:t>
            </a:r>
            <a:r>
              <a:rPr lang="ru-RU" dirty="0" err="1">
                <a:cs typeface="Calibri"/>
              </a:rPr>
              <a:t>tapmış</a:t>
            </a:r>
            <a:r>
              <a:rPr lang="ru-RU" dirty="0">
                <a:cs typeface="Calibri"/>
              </a:rPr>
              <a:t> </a:t>
            </a:r>
            <a:r>
              <a:rPr lang="ru-RU" dirty="0" err="1">
                <a:cs typeface="Calibri"/>
              </a:rPr>
              <a:t>oluruq</a:t>
            </a:r>
          </a:p>
        </p:txBody>
      </p:sp>
    </p:spTree>
    <p:extLst>
      <p:ext uri="{BB962C8B-B14F-4D97-AF65-F5344CB8AC3E}">
        <p14:creationId xmlns:p14="http://schemas.microsoft.com/office/powerpoint/2010/main" val="18862248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Searching Alqoritmler</vt:lpstr>
      <vt:lpstr>Linear Search</vt:lpstr>
      <vt:lpstr>Презентация PowerPoint</vt:lpstr>
      <vt:lpstr>Презентация PowerPoint</vt:lpstr>
      <vt:lpstr>Binary Search</vt:lpstr>
      <vt:lpstr>Презентация PowerPoint</vt:lpstr>
      <vt:lpstr>Презентация PowerPoint</vt:lpstr>
      <vt:lpstr>Jump Search</vt:lpstr>
      <vt:lpstr>Interpolation Search</vt:lpstr>
      <vt:lpstr>Презентация PowerPoint</vt:lpstr>
      <vt:lpstr>Exponential Search</vt:lpstr>
      <vt:lpstr>Fibonachi 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524</cp:revision>
  <dcterms:created xsi:type="dcterms:W3CDTF">2022-03-09T18:10:57Z</dcterms:created>
  <dcterms:modified xsi:type="dcterms:W3CDTF">2022-03-10T05:22:21Z</dcterms:modified>
</cp:coreProperties>
</file>